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  <p:sldMasterId id="2147483674" r:id="rId2"/>
    <p:sldMasterId id="2147483687" r:id="rId3"/>
    <p:sldMasterId id="2147483739" r:id="rId4"/>
  </p:sldMasterIdLst>
  <p:sldIdLst>
    <p:sldId id="257" r:id="rId5"/>
    <p:sldId id="260" r:id="rId6"/>
    <p:sldId id="265" r:id="rId7"/>
    <p:sldId id="258" r:id="rId8"/>
    <p:sldId id="259" r:id="rId9"/>
    <p:sldId id="275" r:id="rId10"/>
    <p:sldId id="266" r:id="rId11"/>
    <p:sldId id="268" r:id="rId12"/>
    <p:sldId id="271" r:id="rId13"/>
    <p:sldId id="274" r:id="rId14"/>
    <p:sldId id="264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338760" y="1058760"/>
            <a:ext cx="11514240" cy="4908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Lato"/>
                <a:ea typeface="Lato"/>
              </a:rPr>
              <a:t>Click to edit Master text styles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Lato"/>
                <a:ea typeface="Lato"/>
              </a:rPr>
              <a:t>Second level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rgbClr val="000000"/>
                </a:solidFill>
                <a:latin typeface="Lato"/>
                <a:ea typeface="Lato"/>
              </a:rPr>
              <a:t>Third level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Fourth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Fifth level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1:……………………………………..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body"/>
          </p:nvPr>
        </p:nvSpPr>
        <p:spPr>
          <a:xfrm>
            <a:off x="330120" y="1406880"/>
            <a:ext cx="5765400" cy="465552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Chart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238800" y="1414440"/>
            <a:ext cx="5444640" cy="46558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Lato"/>
                <a:ea typeface="Lato"/>
              </a:rPr>
              <a:t>Picture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title"/>
          </p:nvPr>
        </p:nvSpPr>
        <p:spPr>
          <a:xfrm>
            <a:off x="338760" y="112680"/>
            <a:ext cx="11514240" cy="43560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strike="noStrike" spc="-1">
                <a:solidFill>
                  <a:srgbClr val="FFFFFF"/>
                </a:solidFill>
                <a:latin typeface="Lato"/>
                <a:ea typeface="Lato"/>
              </a:rPr>
              <a:t>Title 2:……………………………………..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" descr="Text&#10;&#10;Description automatically generated"/>
          <p:cNvPicPr/>
          <p:nvPr/>
        </p:nvPicPr>
        <p:blipFill>
          <a:blip r:embed="rId2"/>
          <a:stretch/>
        </p:blipFill>
        <p:spPr>
          <a:xfrm>
            <a:off x="392040" y="271440"/>
            <a:ext cx="3174120" cy="1153080"/>
          </a:xfrm>
          <a:prstGeom prst="rect">
            <a:avLst/>
          </a:prstGeom>
          <a:ln>
            <a:noFill/>
          </a:ln>
        </p:spPr>
      </p:pic>
      <p:sp>
        <p:nvSpPr>
          <p:cNvPr id="307" name="CustomShape 1"/>
          <p:cNvSpPr/>
          <p:nvPr/>
        </p:nvSpPr>
        <p:spPr>
          <a:xfrm>
            <a:off x="695520" y="2269440"/>
            <a:ext cx="8251560" cy="848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CustomShape 2"/>
          <p:cNvSpPr/>
          <p:nvPr/>
        </p:nvSpPr>
        <p:spPr>
          <a:xfrm>
            <a:off x="695520" y="3403080"/>
            <a:ext cx="6095520" cy="22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9" name="CustomShape 3"/>
          <p:cNvSpPr/>
          <p:nvPr/>
        </p:nvSpPr>
        <p:spPr>
          <a:xfrm>
            <a:off x="6962400" y="3269880"/>
            <a:ext cx="4329000" cy="1369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5FEB79-462E-B25D-CCC1-B68D7D3AD7B8}"/>
              </a:ext>
            </a:extLst>
          </p:cNvPr>
          <p:cNvSpPr txBox="1"/>
          <p:nvPr/>
        </p:nvSpPr>
        <p:spPr>
          <a:xfrm>
            <a:off x="601414" y="2134112"/>
            <a:ext cx="9093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4000" b="1" dirty="0" err="1">
                <a:solidFill>
                  <a:srgbClr val="002060"/>
                </a:solidFill>
              </a:rPr>
              <a:t>Xây</a:t>
            </a:r>
            <a:r>
              <a:rPr lang="en-US" sz="4000" b="1" dirty="0">
                <a:solidFill>
                  <a:srgbClr val="002060"/>
                </a:solidFill>
              </a:rPr>
              <a:t> </a:t>
            </a:r>
            <a:r>
              <a:rPr lang="en-US" sz="4000" b="1" dirty="0" err="1">
                <a:solidFill>
                  <a:srgbClr val="002060"/>
                </a:solidFill>
              </a:rPr>
              <a:t>Dựng</a:t>
            </a:r>
            <a:r>
              <a:rPr lang="en-US" sz="4000" b="1" dirty="0">
                <a:solidFill>
                  <a:srgbClr val="002060"/>
                </a:solidFill>
              </a:rPr>
              <a:t> </a:t>
            </a:r>
            <a:r>
              <a:rPr lang="en-US" sz="4000" b="1" dirty="0" err="1">
                <a:solidFill>
                  <a:srgbClr val="002060"/>
                </a:solidFill>
              </a:rPr>
              <a:t>Hệ</a:t>
            </a:r>
            <a:r>
              <a:rPr lang="en-US" sz="4000" b="1" dirty="0">
                <a:solidFill>
                  <a:srgbClr val="002060"/>
                </a:solidFill>
              </a:rPr>
              <a:t> </a:t>
            </a:r>
            <a:r>
              <a:rPr lang="en-US" sz="4000" b="1" dirty="0" err="1">
                <a:solidFill>
                  <a:srgbClr val="002060"/>
                </a:solidFill>
              </a:rPr>
              <a:t>Thống</a:t>
            </a:r>
            <a:r>
              <a:rPr lang="en-US" sz="4000" b="1" dirty="0">
                <a:solidFill>
                  <a:srgbClr val="002060"/>
                </a:solidFill>
              </a:rPr>
              <a:t> </a:t>
            </a:r>
            <a:r>
              <a:rPr lang="en-US" sz="4000" b="1" dirty="0" err="1">
                <a:solidFill>
                  <a:srgbClr val="002060"/>
                </a:solidFill>
              </a:rPr>
              <a:t>Xử</a:t>
            </a:r>
            <a:r>
              <a:rPr lang="en-US" sz="4000" b="1" dirty="0">
                <a:solidFill>
                  <a:srgbClr val="002060"/>
                </a:solidFill>
              </a:rPr>
              <a:t> Lý </a:t>
            </a:r>
            <a:r>
              <a:rPr lang="en-US" sz="4000" b="1" dirty="0" err="1">
                <a:solidFill>
                  <a:srgbClr val="002060"/>
                </a:solidFill>
              </a:rPr>
              <a:t>Giao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dịch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tiền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điện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tử</a:t>
            </a:r>
            <a:endParaRPr lang="en-US" sz="4000" dirty="0">
              <a:solidFill>
                <a:srgbClr val="00206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693065-AB7E-670A-BCE6-4B4358E0CA08}"/>
              </a:ext>
            </a:extLst>
          </p:cNvPr>
          <p:cNvCxnSpPr/>
          <p:nvPr/>
        </p:nvCxnSpPr>
        <p:spPr>
          <a:xfrm>
            <a:off x="695763" y="3600111"/>
            <a:ext cx="89043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C584063-FA6C-DF1E-C392-66080B7F5975}"/>
              </a:ext>
            </a:extLst>
          </p:cNvPr>
          <p:cNvSpPr txBox="1"/>
          <p:nvPr/>
        </p:nvSpPr>
        <p:spPr>
          <a:xfrm>
            <a:off x="601414" y="3600111"/>
            <a:ext cx="8960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Thành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nhóm</a:t>
            </a:r>
            <a:r>
              <a:rPr lang="en-US" b="1" dirty="0"/>
              <a:t>:</a:t>
            </a:r>
          </a:p>
          <a:p>
            <a:r>
              <a:rPr lang="en-US" b="1" dirty="0" err="1"/>
              <a:t>Đỗ</a:t>
            </a:r>
            <a:r>
              <a:rPr lang="en-US" b="1" dirty="0"/>
              <a:t> Kim </a:t>
            </a:r>
            <a:r>
              <a:rPr lang="en-US" b="1" dirty="0" err="1"/>
              <a:t>Nhường</a:t>
            </a:r>
            <a:r>
              <a:rPr lang="en-US" b="1" dirty="0"/>
              <a:t> – 20225372</a:t>
            </a:r>
          </a:p>
          <a:p>
            <a:r>
              <a:rPr lang="en-US" b="1" dirty="0" err="1"/>
              <a:t>Ngô</a:t>
            </a:r>
            <a:r>
              <a:rPr lang="en-US" b="1" dirty="0"/>
              <a:t> </a:t>
            </a:r>
            <a:r>
              <a:rPr lang="en-US" b="1" dirty="0" err="1"/>
              <a:t>Đức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- 20225272</a:t>
            </a:r>
          </a:p>
          <a:p>
            <a:r>
              <a:rPr lang="en-US" b="1" dirty="0" err="1"/>
              <a:t>Trần</a:t>
            </a:r>
            <a:r>
              <a:rPr lang="en-US" b="1" dirty="0"/>
              <a:t> Bá Lợi – 20225358</a:t>
            </a:r>
          </a:p>
          <a:p>
            <a:r>
              <a:rPr lang="en-US" b="1" dirty="0"/>
              <a:t>Nguyễn Quốc Anh – 20200032</a:t>
            </a:r>
          </a:p>
          <a:p>
            <a:r>
              <a:rPr lang="en-US" b="1" dirty="0"/>
              <a:t>Nguyễn Xuân </a:t>
            </a:r>
            <a:r>
              <a:rPr lang="en-US" b="1" dirty="0" err="1"/>
              <a:t>Nhân</a:t>
            </a:r>
            <a:r>
              <a:rPr lang="en-US" b="1" dirty="0"/>
              <a:t> – 20225217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520BC4-045E-7861-79C8-306B6C5BD71B}"/>
              </a:ext>
            </a:extLst>
          </p:cNvPr>
          <p:cNvSpPr txBox="1"/>
          <p:nvPr/>
        </p:nvSpPr>
        <p:spPr>
          <a:xfrm>
            <a:off x="124287" y="112680"/>
            <a:ext cx="4758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Mục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lục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50ACA-BC8B-2350-BB4C-5D543F718CE3}"/>
              </a:ext>
            </a:extLst>
          </p:cNvPr>
          <p:cNvSpPr txBox="1"/>
          <p:nvPr/>
        </p:nvSpPr>
        <p:spPr>
          <a:xfrm>
            <a:off x="577048" y="1518082"/>
            <a:ext cx="66760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kiến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Luồng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thống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Thu </a:t>
            </a:r>
            <a:r>
              <a:rPr lang="en-US" sz="2400" dirty="0" err="1"/>
              <a:t>thập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Lưu </a:t>
            </a:r>
            <a:r>
              <a:rPr lang="en-US" sz="2400" dirty="0" err="1"/>
              <a:t>trữ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phối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sát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trực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C4B4-A9AB-4976-AA52-47EF36F7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9B7041EF-782A-D0BE-ECDC-54EAAFE44EAB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DBE493-AB55-15C1-8C9B-05DA15D42818}"/>
              </a:ext>
            </a:extLst>
          </p:cNvPr>
          <p:cNvSpPr txBox="1"/>
          <p:nvPr/>
        </p:nvSpPr>
        <p:spPr>
          <a:xfrm>
            <a:off x="0" y="125813"/>
            <a:ext cx="4758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1. </a:t>
            </a:r>
            <a:r>
              <a:rPr lang="en-US" sz="2400" dirty="0" err="1">
                <a:solidFill>
                  <a:schemeClr val="bg1"/>
                </a:solidFill>
              </a:rPr>
              <a:t>Mục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tiêu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dự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án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8D223A-E0AE-FFED-3A16-88CC54B5A82A}"/>
              </a:ext>
            </a:extLst>
          </p:cNvPr>
          <p:cNvSpPr txBox="1"/>
          <p:nvPr/>
        </p:nvSpPr>
        <p:spPr>
          <a:xfrm>
            <a:off x="0" y="1990596"/>
            <a:ext cx="69970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Xây dựng hệ thống Big Data End-to-End xử lý dữ liệu giao dịch tiền điện tử.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Đáp ứng độ trễ cực thấp (Tick-level Processing) cho dữ liệu Real-time.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Cung cấp khả năng Backtesting chiến lược trên dữ liệu lịch sử khổng lồ.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333" y="1568768"/>
            <a:ext cx="5103283" cy="3178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795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Freeform 1"/>
          <p:cNvSpPr/>
          <p:nvPr/>
        </p:nvSpPr>
        <p:spPr>
          <a:xfrm>
            <a:off x="3209400" y="2164680"/>
            <a:ext cx="360" cy="360"/>
          </a:xfrm>
          <a:custGeom>
            <a:avLst/>
            <a:gdLst/>
            <a:ahLst/>
            <a:cxnLst/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ln/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E1AD7A-EA9E-B4EF-5E33-40065475C310}"/>
              </a:ext>
            </a:extLst>
          </p:cNvPr>
          <p:cNvSpPr txBox="1"/>
          <p:nvPr/>
        </p:nvSpPr>
        <p:spPr>
          <a:xfrm>
            <a:off x="0" y="125813"/>
            <a:ext cx="4758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2. </a:t>
            </a:r>
            <a:r>
              <a:rPr lang="en-US" sz="2400" dirty="0" err="1">
                <a:solidFill>
                  <a:schemeClr val="bg1"/>
                </a:solidFill>
              </a:rPr>
              <a:t>Tổng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quan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kiến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trúc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hệ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thống</a:t>
            </a:r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26E87-7A9B-AB3E-AF7E-9AD70926EA3A}"/>
              </a:ext>
            </a:extLst>
          </p:cNvPr>
          <p:cNvSpPr txBox="1"/>
          <p:nvPr/>
        </p:nvSpPr>
        <p:spPr>
          <a:xfrm>
            <a:off x="858484" y="4406235"/>
            <a:ext cx="61125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dirty="0"/>
              <a:t>Kiến trúc kết hợp: Lambda &amp; Kappa Architecture.</a:t>
            </a:r>
          </a:p>
          <a:p>
            <a:r>
              <a:rPr lang="vi-VN" b="1" dirty="0"/>
              <a:t>Thu thập:</a:t>
            </a:r>
            <a:r>
              <a:rPr lang="vi-VN" dirty="0"/>
              <a:t> NestJS Gateway.</a:t>
            </a:r>
          </a:p>
          <a:p>
            <a:r>
              <a:rPr lang="vi-VN" b="1" dirty="0"/>
              <a:t>Trục điều phối:</a:t>
            </a:r>
            <a:r>
              <a:rPr lang="vi-VN" dirty="0"/>
              <a:t> Apache Kafka.</a:t>
            </a:r>
          </a:p>
          <a:p>
            <a:r>
              <a:rPr lang="vi-VN" b="1" dirty="0"/>
              <a:t>Xử lý trung tâm:</a:t>
            </a:r>
            <a:r>
              <a:rPr lang="vi-VN" dirty="0"/>
              <a:t> Apache Spark (Streaming &amp; Batch).</a:t>
            </a:r>
          </a:p>
          <a:p>
            <a:r>
              <a:rPr lang="vi-VN" b="1" dirty="0"/>
              <a:t>Lưu trữ:</a:t>
            </a:r>
            <a:r>
              <a:rPr lang="vi-VN" dirty="0"/>
              <a:t> MongoDB, </a:t>
            </a:r>
            <a:r>
              <a:rPr lang="en-US" dirty="0"/>
              <a:t>AWS </a:t>
            </a:r>
            <a:r>
              <a:rPr lang="vi-VN" dirty="0"/>
              <a:t>S3.</a:t>
            </a:r>
          </a:p>
          <a:p>
            <a:endParaRPr lang="en-US" sz="1800" b="0" i="0" dirty="0">
              <a:solidFill>
                <a:srgbClr val="000000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DBD6E-6092-431A-3816-5C07F2DFBBAF}"/>
              </a:ext>
            </a:extLst>
          </p:cNvPr>
          <p:cNvSpPr txBox="1"/>
          <p:nvPr/>
        </p:nvSpPr>
        <p:spPr>
          <a:xfrm>
            <a:off x="2839539" y="3911600"/>
            <a:ext cx="595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Hình</a:t>
            </a:r>
            <a:r>
              <a:rPr lang="en-US" i="1" dirty="0"/>
              <a:t> 1.1. </a:t>
            </a:r>
            <a:r>
              <a:rPr lang="en-US" i="1" dirty="0" err="1"/>
              <a:t>Kiến</a:t>
            </a:r>
            <a:r>
              <a:rPr lang="en-US" i="1" dirty="0"/>
              <a:t> </a:t>
            </a:r>
            <a:r>
              <a:rPr lang="en-US" i="1" dirty="0" err="1"/>
              <a:t>trúc</a:t>
            </a:r>
            <a:r>
              <a:rPr lang="en-US" i="1" dirty="0"/>
              <a:t> </a:t>
            </a:r>
            <a:r>
              <a:rPr lang="en-US" i="1" dirty="0" err="1"/>
              <a:t>tổng</a:t>
            </a:r>
            <a:r>
              <a:rPr lang="en-US" i="1" dirty="0"/>
              <a:t> </a:t>
            </a:r>
            <a:r>
              <a:rPr lang="en-US" i="1" dirty="0" err="1"/>
              <a:t>quan</a:t>
            </a:r>
            <a:r>
              <a:rPr lang="en-US" i="1" dirty="0"/>
              <a:t> </a:t>
            </a:r>
            <a:r>
              <a:rPr lang="en-US" i="1" dirty="0" err="1"/>
              <a:t>hệ</a:t>
            </a:r>
            <a:r>
              <a:rPr lang="en-US" i="1" dirty="0"/>
              <a:t> </a:t>
            </a:r>
            <a:r>
              <a:rPr lang="en-US" i="1" dirty="0" err="1"/>
              <a:t>thống</a:t>
            </a:r>
            <a:r>
              <a:rPr lang="en-US" i="1" dirty="0"/>
              <a:t> 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200" y="1058410"/>
            <a:ext cx="6132812" cy="285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4526280" y="4757739"/>
            <a:ext cx="3421380" cy="6048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5B685-EA23-838C-639B-3D20F40660CD}"/>
              </a:ext>
            </a:extLst>
          </p:cNvPr>
          <p:cNvSpPr txBox="1"/>
          <p:nvPr/>
        </p:nvSpPr>
        <p:spPr>
          <a:xfrm>
            <a:off x="0" y="125813"/>
            <a:ext cx="475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3. </a:t>
            </a:r>
            <a:r>
              <a:rPr lang="en-US" sz="2400" dirty="0" err="1">
                <a:solidFill>
                  <a:schemeClr val="bg1"/>
                </a:solidFill>
              </a:rPr>
              <a:t>Luồng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dữ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liệu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hệ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thống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25434-857F-1B1F-4006-A960212323A5}"/>
              </a:ext>
            </a:extLst>
          </p:cNvPr>
          <p:cNvSpPr txBox="1"/>
          <p:nvPr/>
        </p:nvSpPr>
        <p:spPr>
          <a:xfrm>
            <a:off x="3579060" y="4931685"/>
            <a:ext cx="5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Hình</a:t>
            </a:r>
            <a:r>
              <a:rPr lang="en-US" i="1" dirty="0"/>
              <a:t> 3.1. </a:t>
            </a:r>
            <a:r>
              <a:rPr lang="en-US" i="1" dirty="0" err="1"/>
              <a:t>Sơ</a:t>
            </a:r>
            <a:r>
              <a:rPr lang="en-US" i="1" dirty="0"/>
              <a:t> </a:t>
            </a:r>
            <a:r>
              <a:rPr lang="en-US" i="1" dirty="0" err="1"/>
              <a:t>đồ</a:t>
            </a:r>
            <a:r>
              <a:rPr lang="en-US" i="1" dirty="0"/>
              <a:t> </a:t>
            </a:r>
            <a:r>
              <a:rPr lang="en-US" i="1" dirty="0" err="1"/>
              <a:t>luồng</a:t>
            </a:r>
            <a:r>
              <a:rPr lang="en-US" i="1" dirty="0"/>
              <a:t> </a:t>
            </a:r>
            <a:r>
              <a:rPr lang="en-US" i="1" dirty="0" err="1"/>
              <a:t>dữ</a:t>
            </a:r>
            <a:r>
              <a:rPr lang="en-US" i="1" dirty="0"/>
              <a:t> </a:t>
            </a:r>
            <a:r>
              <a:rPr lang="en-US" i="1" dirty="0" err="1"/>
              <a:t>liệu</a:t>
            </a:r>
            <a:r>
              <a:rPr lang="en-US" i="1" dirty="0"/>
              <a:t> </a:t>
            </a:r>
            <a:r>
              <a:rPr lang="en-US" i="1" dirty="0" err="1"/>
              <a:t>đi</a:t>
            </a:r>
            <a:r>
              <a:rPr lang="en-US" i="1" dirty="0"/>
              <a:t> </a:t>
            </a:r>
            <a:r>
              <a:rPr lang="en-US" i="1" dirty="0" err="1"/>
              <a:t>xuôi</a:t>
            </a:r>
            <a:endParaRPr lang="en-US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09" y="1577340"/>
            <a:ext cx="11277600" cy="3180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Shape 1"/>
          <p:cNvSpPr txBox="1"/>
          <p:nvPr/>
        </p:nvSpPr>
        <p:spPr>
          <a:xfrm>
            <a:off x="4526280" y="4757739"/>
            <a:ext cx="3421380" cy="6048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3" name="TextShape 2"/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35B685-EA23-838C-639B-3D20F40660CD}"/>
              </a:ext>
            </a:extLst>
          </p:cNvPr>
          <p:cNvSpPr txBox="1"/>
          <p:nvPr/>
        </p:nvSpPr>
        <p:spPr>
          <a:xfrm>
            <a:off x="0" y="125813"/>
            <a:ext cx="47584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3. </a:t>
            </a:r>
            <a:r>
              <a:rPr lang="en-US" sz="2400" dirty="0" err="1">
                <a:solidFill>
                  <a:schemeClr val="bg1"/>
                </a:solidFill>
              </a:rPr>
              <a:t>Luồng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dữ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liệu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hệ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thống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25434-857F-1B1F-4006-A960212323A5}"/>
              </a:ext>
            </a:extLst>
          </p:cNvPr>
          <p:cNvSpPr txBox="1"/>
          <p:nvPr/>
        </p:nvSpPr>
        <p:spPr>
          <a:xfrm>
            <a:off x="3579059" y="4931685"/>
            <a:ext cx="5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Hình</a:t>
            </a:r>
            <a:r>
              <a:rPr lang="en-US" i="1" dirty="0"/>
              <a:t> 3.1. </a:t>
            </a:r>
            <a:r>
              <a:rPr lang="en-US" i="1" dirty="0" err="1"/>
              <a:t>Sơ</a:t>
            </a:r>
            <a:r>
              <a:rPr lang="en-US" i="1" dirty="0"/>
              <a:t> </a:t>
            </a:r>
            <a:r>
              <a:rPr lang="en-US" i="1" dirty="0" err="1"/>
              <a:t>đồ</a:t>
            </a:r>
            <a:r>
              <a:rPr lang="en-US" i="1" dirty="0"/>
              <a:t> </a:t>
            </a:r>
            <a:r>
              <a:rPr lang="en-US" i="1" dirty="0" err="1"/>
              <a:t>luồng</a:t>
            </a:r>
            <a:r>
              <a:rPr lang="en-US" i="1" dirty="0"/>
              <a:t> </a:t>
            </a:r>
            <a:r>
              <a:rPr lang="en-US" i="1" dirty="0" err="1"/>
              <a:t>dữ</a:t>
            </a:r>
            <a:r>
              <a:rPr lang="en-US" i="1" dirty="0"/>
              <a:t> </a:t>
            </a:r>
            <a:r>
              <a:rPr lang="en-US" i="1" dirty="0" err="1"/>
              <a:t>liệu</a:t>
            </a:r>
            <a:r>
              <a:rPr lang="en-US" i="1" dirty="0"/>
              <a:t> </a:t>
            </a:r>
            <a:r>
              <a:rPr lang="en-US" i="1" dirty="0" err="1"/>
              <a:t>đi</a:t>
            </a:r>
            <a:r>
              <a:rPr lang="en-US" i="1" dirty="0"/>
              <a:t> </a:t>
            </a:r>
            <a:r>
              <a:rPr lang="en-US" i="1" dirty="0" err="1"/>
              <a:t>ngược</a:t>
            </a:r>
            <a:endParaRPr lang="en-US" i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63" y="1275250"/>
            <a:ext cx="11098213" cy="32805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897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CE2C8-D52B-5006-C4C9-16475FDE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1054981B-FF98-B384-CA32-A07CA3A845F7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3639B-C1AF-C42E-350F-8C721E51089F}"/>
              </a:ext>
            </a:extLst>
          </p:cNvPr>
          <p:cNvSpPr txBox="1"/>
          <p:nvPr/>
        </p:nvSpPr>
        <p:spPr>
          <a:xfrm>
            <a:off x="0" y="125813"/>
            <a:ext cx="8069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4. Thu </a:t>
            </a:r>
            <a:r>
              <a:rPr lang="en-US" sz="2400" dirty="0" err="1">
                <a:solidFill>
                  <a:schemeClr val="bg1"/>
                </a:solidFill>
              </a:rPr>
              <a:t>thập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và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xử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lý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dữ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liệu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6AED0-0C5A-78E3-DA78-0358F96FD7A5}"/>
              </a:ext>
            </a:extLst>
          </p:cNvPr>
          <p:cNvSpPr txBox="1"/>
          <p:nvPr/>
        </p:nvSpPr>
        <p:spPr>
          <a:xfrm>
            <a:off x="105052" y="1859339"/>
            <a:ext cx="64530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Thu thập:</a:t>
            </a:r>
            <a:endParaRPr lang="vi-VN" dirty="0"/>
          </a:p>
          <a:p>
            <a:pPr lvl="1"/>
            <a:r>
              <a:rPr lang="vi-VN" dirty="0"/>
              <a:t>Zero-Disk ETL: Giải nén và đẩy dữ liệu lịch sử trực tiếp lên RAM, không chạm ổ cứng.</a:t>
            </a:r>
          </a:p>
          <a:p>
            <a:pPr lvl="1"/>
            <a:r>
              <a:rPr lang="vi-VN" dirty="0"/>
              <a:t>Bắt luồng @aggTrade (từng giao dịch riêng lẻ).</a:t>
            </a:r>
          </a:p>
          <a:p>
            <a:r>
              <a:rPr lang="vi-VN" b="1" dirty="0"/>
              <a:t>Xử lý (Cơ chế Dual-Stream của Spark):</a:t>
            </a:r>
            <a:endParaRPr lang="vi-VN" dirty="0"/>
          </a:p>
          <a:p>
            <a:pPr lvl="1"/>
            <a:r>
              <a:rPr lang="vi-VN" i="1" dirty="0"/>
              <a:t>Luồng Raw Ticks:</a:t>
            </a:r>
            <a:r>
              <a:rPr lang="vi-VN" dirty="0"/>
              <a:t> Cực nhẹ, dùng để phát hiện Cá Mập (Whale Alerts &gt; 100k$).</a:t>
            </a:r>
          </a:p>
          <a:p>
            <a:pPr lvl="1"/>
            <a:r>
              <a:rPr lang="vi-VN" i="1" dirty="0"/>
              <a:t>Luồng Sliding Window:</a:t>
            </a:r>
            <a:r>
              <a:rPr lang="vi-VN" dirty="0"/>
              <a:t> Cửa sổ 1 phút, trượt mỗi 2 giây để tính lại nến OHLC. Xử lý trễ bằng Watermarking.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B5947-720B-C9B8-EA27-9E5E3E94A14A}"/>
              </a:ext>
            </a:extLst>
          </p:cNvPr>
          <p:cNvSpPr txBox="1"/>
          <p:nvPr/>
        </p:nvSpPr>
        <p:spPr>
          <a:xfrm>
            <a:off x="7616893" y="4906572"/>
            <a:ext cx="35692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Hình</a:t>
            </a:r>
            <a:r>
              <a:rPr lang="en-US" sz="1600" i="1" dirty="0"/>
              <a:t> 4.1. </a:t>
            </a:r>
            <a:r>
              <a:rPr lang="en-US" sz="1600" i="1" dirty="0" err="1"/>
              <a:t>Dữ</a:t>
            </a:r>
            <a:r>
              <a:rPr lang="en-US" sz="1600" i="1" dirty="0"/>
              <a:t> </a:t>
            </a:r>
            <a:r>
              <a:rPr lang="en-US" sz="1600" i="1" dirty="0" err="1"/>
              <a:t>liệu</a:t>
            </a:r>
            <a:r>
              <a:rPr lang="en-US" sz="1600" i="1" dirty="0"/>
              <a:t> </a:t>
            </a:r>
            <a:r>
              <a:rPr lang="en-US" sz="1600" i="1" dirty="0" err="1"/>
              <a:t>thô</a:t>
            </a:r>
            <a:r>
              <a:rPr lang="en-US" sz="1600" i="1" dirty="0"/>
              <a:t> </a:t>
            </a:r>
            <a:r>
              <a:rPr lang="en-US" sz="1600" i="1" dirty="0" err="1"/>
              <a:t>được</a:t>
            </a:r>
            <a:r>
              <a:rPr lang="en-US" sz="1600" i="1" dirty="0"/>
              <a:t> </a:t>
            </a:r>
            <a:r>
              <a:rPr lang="en-US" sz="1600" i="1" dirty="0" err="1"/>
              <a:t>lưu</a:t>
            </a:r>
            <a:r>
              <a:rPr lang="en-US" sz="1600" i="1" dirty="0"/>
              <a:t> </a:t>
            </a:r>
            <a:r>
              <a:rPr lang="en-US" sz="1600" i="1" dirty="0" err="1"/>
              <a:t>trữ</a:t>
            </a:r>
            <a:r>
              <a:rPr lang="en-US" sz="1600" i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6AEDBD-2BF0-1A07-4C0D-3B239BBF3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8" y="1951428"/>
            <a:ext cx="5361683" cy="253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3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841A6-8471-48FA-2252-9509640F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3763533D-E837-CB2A-40FA-CE3E14E03882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F18D-0B20-63DD-96D3-B6482CD42931}"/>
              </a:ext>
            </a:extLst>
          </p:cNvPr>
          <p:cNvSpPr txBox="1"/>
          <p:nvPr/>
        </p:nvSpPr>
        <p:spPr>
          <a:xfrm>
            <a:off x="0" y="125813"/>
            <a:ext cx="8069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5. Lưu </a:t>
            </a:r>
            <a:r>
              <a:rPr lang="en-US" sz="2400" dirty="0" err="1">
                <a:solidFill>
                  <a:schemeClr val="bg1"/>
                </a:solidFill>
              </a:rPr>
              <a:t>trữ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và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phần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phối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dịch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vụ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755EBBC-8DFF-6BC3-79EB-C11BA2F67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760" y="1327128"/>
            <a:ext cx="10352100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vi-VN" b="1" dirty="0"/>
              <a:t>Lưu trữ Lai (Hybrid Storage):</a:t>
            </a:r>
            <a:endParaRPr lang="vi-VN" dirty="0"/>
          </a:p>
          <a:p>
            <a:pPr lvl="1"/>
            <a:r>
              <a:rPr lang="vi-VN" dirty="0"/>
              <a:t>MongoDB (Hot Storage): Truy vấn nhanh trạng thái hiện tại.</a:t>
            </a:r>
          </a:p>
          <a:p>
            <a:pPr lvl="1"/>
            <a:r>
              <a:rPr lang="vi-VN" dirty="0"/>
              <a:t>MinIO/Parquet (Cold Storage): Lưu trữ Big Data phân tán định dạng cột (Columnar format).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b="1" dirty="0"/>
              <a:t>Phân phối (Backend API):</a:t>
            </a:r>
            <a:endParaRPr lang="vi-VN" dirty="0"/>
          </a:p>
          <a:p>
            <a:pPr lvl="1"/>
            <a:r>
              <a:rPr lang="vi-VN" dirty="0"/>
              <a:t>NestJS &amp; WebSockets: Đẩy realtime event (tick-update, whale-alert).</a:t>
            </a:r>
          </a:p>
          <a:p>
            <a:pPr lvl="1"/>
            <a:r>
              <a:rPr lang="vi-VN" dirty="0"/>
              <a:t>Redis: Caching trạng thái nến mới nhất để giảm tải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43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D90C-FFE8-AB85-FC05-F1CB1BFF0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190FA33B-617D-9567-01AC-2D8E3E91907D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D150CC-94F6-851C-885C-8FE886338F97}"/>
              </a:ext>
            </a:extLst>
          </p:cNvPr>
          <p:cNvSpPr txBox="1"/>
          <p:nvPr/>
        </p:nvSpPr>
        <p:spPr>
          <a:xfrm>
            <a:off x="0" y="125813"/>
            <a:ext cx="8069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6. </a:t>
            </a:r>
            <a:r>
              <a:rPr lang="en-US" sz="2400" dirty="0" err="1">
                <a:solidFill>
                  <a:schemeClr val="bg1"/>
                </a:solidFill>
              </a:rPr>
              <a:t>Giám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sát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và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Trực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quan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hóa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dữ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liệu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866D2-5E39-DE18-2DB9-6C75CB5DB6D0}"/>
              </a:ext>
            </a:extLst>
          </p:cNvPr>
          <p:cNvSpPr txBox="1"/>
          <p:nvPr/>
        </p:nvSpPr>
        <p:spPr>
          <a:xfrm>
            <a:off x="213360" y="1389072"/>
            <a:ext cx="103407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  <a:p>
            <a:pPr marL="742950" lvl="1" indent="-285750">
              <a:buFont typeface="Arial" pitchFamily="34" charset="0"/>
              <a:buChar char="•"/>
            </a:pPr>
            <a:r>
              <a:rPr lang="vi-VN" b="1" dirty="0"/>
              <a:t>Giám sát Hệ thống (DevOps):</a:t>
            </a:r>
            <a:endParaRPr lang="vi-VN" dirty="0"/>
          </a:p>
          <a:p>
            <a:pPr lvl="2"/>
            <a:r>
              <a:rPr lang="vi-VN" dirty="0"/>
              <a:t>Kafka UI: Quản lý topic và message broker.</a:t>
            </a:r>
          </a:p>
          <a:p>
            <a:pPr lvl="2"/>
            <a:r>
              <a:rPr lang="vi-VN" dirty="0"/>
              <a:t>Spark Master UI: Theo dõi tiến trình RAM/CPU của các Job tính toán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vi-VN" b="1" dirty="0"/>
              <a:t>Trực quan hóa Dữ liệu (End-User):</a:t>
            </a:r>
            <a:endParaRPr lang="vi-VN" dirty="0"/>
          </a:p>
          <a:p>
            <a:pPr lvl="2"/>
            <a:r>
              <a:rPr lang="vi-VN" dirty="0"/>
              <a:t>Dashboard ReactJS.</a:t>
            </a:r>
          </a:p>
          <a:p>
            <a:pPr lvl="2"/>
            <a:r>
              <a:rPr lang="vi-VN" dirty="0"/>
              <a:t>Hiệu ứng Morphing Candle (Nến chuyển động mượt mà) &amp; Nháy giá (Flickering).</a:t>
            </a:r>
          </a:p>
          <a:p>
            <a:br>
              <a:rPr lang="vi-VN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304E2-DB25-44F3-85EE-0E6D77368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2" y="3429000"/>
            <a:ext cx="5614219" cy="257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953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E8BE7-A96B-FFDC-6861-4229A6F96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Shape 1">
            <a:extLst>
              <a:ext uri="{FF2B5EF4-FFF2-40B4-BE49-F238E27FC236}">
                <a16:creationId xmlns:a16="http://schemas.microsoft.com/office/drawing/2014/main" id="{1223417B-A622-3EE3-908B-108F4C45DDEB}"/>
              </a:ext>
            </a:extLst>
          </p:cNvPr>
          <p:cNvSpPr txBox="1"/>
          <p:nvPr/>
        </p:nvSpPr>
        <p:spPr>
          <a:xfrm>
            <a:off x="338760" y="112680"/>
            <a:ext cx="11514240" cy="435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B50AC-88D6-FFF3-4493-C101E30EA3A4}"/>
              </a:ext>
            </a:extLst>
          </p:cNvPr>
          <p:cNvSpPr txBox="1"/>
          <p:nvPr/>
        </p:nvSpPr>
        <p:spPr>
          <a:xfrm>
            <a:off x="0" y="125813"/>
            <a:ext cx="80698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7. </a:t>
            </a:r>
            <a:r>
              <a:rPr lang="en-US" sz="2400" dirty="0" err="1">
                <a:solidFill>
                  <a:schemeClr val="bg1"/>
                </a:solidFill>
              </a:rPr>
              <a:t>Kết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quả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đạt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được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C9121-E995-371C-1361-AFA05F486F0E}"/>
              </a:ext>
            </a:extLst>
          </p:cNvPr>
          <p:cNvSpPr txBox="1"/>
          <p:nvPr/>
        </p:nvSpPr>
        <p:spPr>
          <a:xfrm>
            <a:off x="503652" y="1419100"/>
            <a:ext cx="11046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KẾT QUẢ ĐẠT ĐƯỢC </a:t>
            </a:r>
            <a:endParaRPr lang="vi-VN" dirty="0"/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Hoàn thiện hệ sinh thái Big Data (End-to-End) tuân thủ kiến trúc Lambda &amp; Kappa.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Hệ thống vận hành trơn tru trên môi trường Docker, xử lý mượt mà khối lượng dữ liệu lớn cho 5 cặp tiền (BTC, ETH, SOL, BNB, XRP).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Tính năng Backtesting (Spark Batch) truy xuất dữ liệu lịch sử cực nhanh, phục vụ tốt cho việc kiểm thử chiến lược. </a:t>
            </a:r>
          </a:p>
        </p:txBody>
      </p:sp>
      <p:sp>
        <p:nvSpPr>
          <p:cNvPr id="3" name="Rectangle 2"/>
          <p:cNvSpPr/>
          <p:nvPr/>
        </p:nvSpPr>
        <p:spPr>
          <a:xfrm>
            <a:off x="498990" y="3252269"/>
            <a:ext cx="1119378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b="1" dirty="0"/>
              <a:t>HƯỚNG PHÁT TRIỂN TƯƠNG LAI </a:t>
            </a:r>
            <a:endParaRPr lang="en-US" b="1" dirty="0"/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Mở rộng quy mô giám sát lên Top 50 đồng Coin thay vì 5 đồng.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Tích hợp sâu Spark MLlib vào luồng Streaming để dự đoán xu hướng giá Real-time.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vi-VN" dirty="0"/>
              <a:t>Triển khai toàn bộ cụm hệ thống lên nền tảng Điện toán đám mây (Cloud như AWS / GCP).</a:t>
            </a:r>
          </a:p>
          <a:p>
            <a:pPr marL="285750" indent="-285750">
              <a:buFont typeface="Arial" pitchFamily="34" charset="0"/>
              <a:buChar char="•"/>
            </a:pP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708940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5756400" y="2824200"/>
            <a:ext cx="5136480" cy="970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</a:pPr>
            <a:r>
              <a:rPr lang="en-US" sz="6000" b="1" strike="noStrike" spc="-1">
                <a:solidFill>
                  <a:srgbClr val="C00000"/>
                </a:solidFill>
                <a:latin typeface="Lato"/>
                <a:ea typeface="Lato"/>
              </a:rPr>
              <a:t>THANK YOU !</a:t>
            </a:r>
            <a:endParaRPr lang="en-US" sz="60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636</Words>
  <Application>Microsoft Office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Lato</vt:lpstr>
      <vt:lpstr>Symbol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Do Kim Nhuong 20225372</cp:lastModifiedBy>
  <cp:revision>16</cp:revision>
  <dcterms:created xsi:type="dcterms:W3CDTF">2020-12-31T09:57:48Z</dcterms:created>
  <dcterms:modified xsi:type="dcterms:W3CDTF">2026-06-18T06:43:42Z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0x0101004F531634775FD1439D5B67291EFE2AD4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9</vt:i4>
  </property>
</Properties>
</file>